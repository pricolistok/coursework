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0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818CF-58EB-4F2D-B43C-B7CB9AC010C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D7B90-8326-47F5-A4E1-7C5CC6BD6C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1034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8E203-2351-4101-B67C-D9071303E6E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5EA7B-E875-4EF4-A536-C2C91FAB53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4904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AD83-0ED7-4916-A1DB-64B3F0F7C6C3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65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0E2D-08E1-4E78-9547-3F3C7AD97D42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88780" y="6356350"/>
            <a:ext cx="2743200" cy="365125"/>
          </a:xfrm>
        </p:spPr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591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77C9-B979-4555-BC96-22EFAF0AC2D1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99937-4BF2-42B9-B73B-A8EA59A02EF3}" type="datetime1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16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039B3-D60D-4C79-B5CB-542AE2CCE9F3}" type="datetime1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21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CE57-6885-4DCF-8FF8-2A3C493ADEB0}" type="datetime1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49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CDE4-5ECC-46A3-9D07-0A7DC76CFEC7}" type="datetime1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03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1FEB-BF6E-4CE1-82FB-C7700F67EF7F}" type="datetime1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94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B303-3468-4D94-83EB-BD86FAF85CAF}" type="datetime1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92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1AD2-89A4-4F68-8A79-0B9FD87DB03C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0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9861-3151-4309-8492-3945FCA9C8FD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68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ADE9-047B-4685-B469-759055CCE098}" type="datetime1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9F3F4-9B24-456F-AAB7-541AB0D0A3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8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3256" y="1555179"/>
            <a:ext cx="1246632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+mn-lt"/>
                <a:cs typeface="Times New Roman" panose="02020603050405020304" pitchFamily="18" charset="0"/>
              </a:rPr>
              <a:t>Визуализация движения автомобиля в трехмерной городской среде с</a:t>
            </a:r>
            <a:br>
              <a:rPr lang="ru-RU" dirty="0">
                <a:latin typeface="+mn-lt"/>
                <a:cs typeface="Times New Roman" panose="02020603050405020304" pitchFamily="18" charset="0"/>
              </a:rPr>
            </a:br>
            <a:r>
              <a:rPr lang="ru-RU" dirty="0">
                <a:latin typeface="+mn-lt"/>
                <a:cs typeface="Times New Roman" panose="02020603050405020304" pitchFamily="18" charset="0"/>
              </a:rPr>
              <a:t>использованием алгоритма поиска пути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3192" y="0"/>
            <a:ext cx="11393424" cy="1655762"/>
          </a:xfrm>
        </p:spPr>
        <p:txBody>
          <a:bodyPr>
            <a:normAutofit/>
          </a:bodyPr>
          <a:lstStyle/>
          <a:p>
            <a:r>
              <a:rPr lang="ru-RU" sz="2000" b="1" dirty="0">
                <a:cs typeface="Times New Roman" panose="02020603050405020304" pitchFamily="18" charset="0"/>
              </a:rPr>
              <a:t>«Московский государственный технический университет имени Н.Э. </a:t>
            </a:r>
            <a:r>
              <a:rPr lang="ru-RU" sz="2000" b="1" dirty="0" smtClean="0">
                <a:cs typeface="Times New Roman" panose="02020603050405020304" pitchFamily="18" charset="0"/>
              </a:rPr>
              <a:t>Баумана</a:t>
            </a:r>
          </a:p>
          <a:p>
            <a:r>
              <a:rPr lang="ru-RU" sz="2000" b="1" dirty="0" smtClean="0">
                <a:cs typeface="Times New Roman" panose="02020603050405020304" pitchFamily="18" charset="0"/>
              </a:rPr>
              <a:t>(национальный исследовательский университет)»</a:t>
            </a:r>
          </a:p>
          <a:p>
            <a:r>
              <a:rPr lang="ru-RU" sz="2000" b="1" dirty="0" smtClean="0">
                <a:cs typeface="Times New Roman" panose="02020603050405020304" pitchFamily="18" charset="0"/>
              </a:rPr>
              <a:t>(</a:t>
            </a:r>
            <a:r>
              <a:rPr lang="ru-RU" sz="2000" b="1" dirty="0">
                <a:cs typeface="Times New Roman" panose="02020603050405020304" pitchFamily="18" charset="0"/>
              </a:rPr>
              <a:t>МГТУ им. Н.Э. Баумана)</a:t>
            </a:r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93192" y="4946206"/>
            <a:ext cx="1139342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 smtClean="0">
                <a:cs typeface="Times New Roman" panose="02020603050405020304" pitchFamily="18" charset="0"/>
              </a:rPr>
              <a:t>Студент: Доколин Георгий Александрович</a:t>
            </a:r>
            <a:endParaRPr lang="en-US" dirty="0" smtClean="0">
              <a:cs typeface="Times New Roman" panose="02020603050405020304" pitchFamily="18" charset="0"/>
            </a:endParaRPr>
          </a:p>
          <a:p>
            <a:pPr algn="l"/>
            <a:r>
              <a:rPr lang="ru-RU" dirty="0" smtClean="0">
                <a:cs typeface="Times New Roman" panose="02020603050405020304" pitchFamily="18" charset="0"/>
              </a:rPr>
              <a:t>Группа: ИУ7-52Б </a:t>
            </a:r>
            <a:endParaRPr lang="en-US" dirty="0" smtClean="0">
              <a:cs typeface="Times New Roman" panose="02020603050405020304" pitchFamily="18" charset="0"/>
            </a:endParaRPr>
          </a:p>
          <a:p>
            <a:pPr algn="l"/>
            <a:r>
              <a:rPr lang="ru-RU" dirty="0" smtClean="0">
                <a:cs typeface="Times New Roman" panose="02020603050405020304" pitchFamily="18" charset="0"/>
              </a:rPr>
              <a:t>Руководитель: </a:t>
            </a:r>
            <a:r>
              <a:rPr lang="ru-RU" dirty="0" err="1">
                <a:cs typeface="Times New Roman" panose="02020603050405020304" pitchFamily="18" charset="0"/>
              </a:rPr>
              <a:t>Кивва</a:t>
            </a:r>
            <a:r>
              <a:rPr lang="ru-RU" dirty="0">
                <a:cs typeface="Times New Roman" panose="02020603050405020304" pitchFamily="18" charset="0"/>
              </a:rPr>
              <a:t> Кирилл Андреевич</a:t>
            </a:r>
          </a:p>
        </p:txBody>
      </p:sp>
    </p:spTree>
    <p:extLst>
      <p:ext uri="{BB962C8B-B14F-4D97-AF65-F5344CB8AC3E}">
        <p14:creationId xmlns:p14="http://schemas.microsoft.com/office/powerpoint/2010/main" val="243926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Цели и задачи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 smtClean="0">
                <a:cs typeface="Times New Roman" panose="02020603050405020304" pitchFamily="18" charset="0"/>
              </a:rPr>
              <a:t>Цель: </a:t>
            </a:r>
            <a:r>
              <a:rPr lang="ru-RU" dirty="0" smtClean="0">
                <a:cs typeface="Times New Roman" panose="02020603050405020304" pitchFamily="18" charset="0"/>
              </a:rPr>
              <a:t>Разработка программного обеспечения для трёхмерного моделирования движения автомобиля в городской среде.</a:t>
            </a:r>
          </a:p>
          <a:p>
            <a:pPr marL="0" indent="0">
              <a:buNone/>
            </a:pPr>
            <a:endParaRPr lang="ru-RU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cs typeface="Times New Roman" panose="02020603050405020304" pitchFamily="18" charset="0"/>
              </a:rPr>
              <a:t>Для достижения цели в рамках работы были поставлены следующие задачи</a:t>
            </a:r>
            <a:r>
              <a:rPr lang="ru-RU" b="1" dirty="0" smtClean="0"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1. </a:t>
            </a:r>
            <a:r>
              <a:rPr lang="ru-RU" dirty="0">
                <a:cs typeface="Times New Roman" panose="02020603050405020304" pitchFamily="18" charset="0"/>
              </a:rPr>
              <a:t>о</a:t>
            </a:r>
            <a:r>
              <a:rPr lang="ru-RU" dirty="0" smtClean="0">
                <a:cs typeface="Times New Roman" panose="02020603050405020304" pitchFamily="18" charset="0"/>
              </a:rPr>
              <a:t>писать структуру трёхмерной сцены (дороги, здания, элементы инфраструктуры)</a:t>
            </a:r>
            <a:r>
              <a:rPr lang="en-US" dirty="0" smtClean="0">
                <a:cs typeface="Times New Roman" panose="02020603050405020304" pitchFamily="18" charset="0"/>
              </a:rPr>
              <a:t>;</a:t>
            </a:r>
            <a:endParaRPr lang="ru-RU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2. выбрать и реализовать алгоритмы удаления невидимых поверхностей, закрашивания и построения теней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3. обеспечить поддержку </a:t>
            </a:r>
            <a:r>
              <a:rPr lang="ru-RU" dirty="0" err="1" smtClean="0">
                <a:cs typeface="Times New Roman" panose="02020603050405020304" pitchFamily="18" charset="0"/>
              </a:rPr>
              <a:t>текстурирования</a:t>
            </a:r>
            <a:r>
              <a:rPr lang="ru-RU" dirty="0" smtClean="0">
                <a:cs typeface="Times New Roman" panose="02020603050405020304" pitchFamily="18" charset="0"/>
              </a:rPr>
              <a:t> и освещения от бесконечно удалённых источников света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r>
              <a:rPr lang="ru-RU" dirty="0" smtClean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4. разработать систему управления виртуальной камерой</a:t>
            </a:r>
            <a:r>
              <a:rPr lang="en-US" dirty="0" smtClean="0">
                <a:cs typeface="Times New Roman" panose="02020603050405020304" pitchFamily="18" charset="0"/>
              </a:rPr>
              <a:t>;</a:t>
            </a:r>
            <a:r>
              <a:rPr lang="ru-RU" dirty="0" smtClean="0"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5. реализовать поиск кратчайшего пути по дорожной сети и анимацию движения автомобиля</a:t>
            </a:r>
            <a:r>
              <a:rPr lang="en-US" dirty="0" smtClean="0">
                <a:cs typeface="Times New Roman" panose="02020603050405020304" pitchFamily="18" charset="0"/>
              </a:rPr>
              <a:t>;</a:t>
            </a:r>
            <a:r>
              <a:rPr lang="ru-RU" dirty="0" smtClean="0"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6. объединить все компоненты в единую программную систему для визуализации движения.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61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Описание объектов сцены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399" y="2477925"/>
            <a:ext cx="5583935" cy="3366615"/>
          </a:xfrm>
        </p:spPr>
        <p:txBody>
          <a:bodyPr>
            <a:noAutofit/>
          </a:bodyPr>
          <a:lstStyle/>
          <a:p>
            <a:r>
              <a:rPr lang="ru-RU" b="1" dirty="0" smtClean="0">
                <a:cs typeface="Times New Roman" panose="02020603050405020304" pitchFamily="18" charset="0"/>
              </a:rPr>
              <a:t>Дороги</a:t>
            </a:r>
            <a:endParaRPr lang="en-US" dirty="0" smtClean="0">
              <a:cs typeface="Times New Roman" panose="02020603050405020304" pitchFamily="18" charset="0"/>
            </a:endParaRPr>
          </a:p>
          <a:p>
            <a:r>
              <a:rPr lang="ru-RU" b="1" dirty="0" smtClean="0">
                <a:cs typeface="Times New Roman" panose="02020603050405020304" pitchFamily="18" charset="0"/>
              </a:rPr>
              <a:t>Здания</a:t>
            </a:r>
            <a:endParaRPr lang="en-US" dirty="0" smtClean="0">
              <a:cs typeface="Times New Roman" panose="02020603050405020304" pitchFamily="18" charset="0"/>
            </a:endParaRPr>
          </a:p>
          <a:p>
            <a:r>
              <a:rPr lang="ru-RU" b="1" dirty="0" smtClean="0">
                <a:cs typeface="Times New Roman" panose="02020603050405020304" pitchFamily="18" charset="0"/>
              </a:rPr>
              <a:t>Малые архитектурные формы</a:t>
            </a:r>
            <a:endParaRPr lang="en-US" b="1" dirty="0" smtClean="0">
              <a:cs typeface="Times New Roman" panose="02020603050405020304" pitchFamily="18" charset="0"/>
            </a:endParaRPr>
          </a:p>
          <a:p>
            <a:r>
              <a:rPr lang="ru-RU" b="1" dirty="0" smtClean="0">
                <a:cs typeface="Times New Roman" panose="02020603050405020304" pitchFamily="18" charset="0"/>
              </a:rPr>
              <a:t>Автомобиль</a:t>
            </a:r>
            <a:endParaRPr lang="en-US" dirty="0" smtClean="0">
              <a:cs typeface="Times New Roman" panose="02020603050405020304" pitchFamily="18" charset="0"/>
            </a:endParaRPr>
          </a:p>
          <a:p>
            <a:r>
              <a:rPr lang="ru-RU" b="1" dirty="0">
                <a:cs typeface="Times New Roman" panose="02020603050405020304" pitchFamily="18" charset="0"/>
              </a:rPr>
              <a:t>Источник </a:t>
            </a:r>
            <a:r>
              <a:rPr lang="ru-RU" b="1" dirty="0" smtClean="0">
                <a:cs typeface="Times New Roman" panose="02020603050405020304" pitchFamily="18" charset="0"/>
              </a:rPr>
              <a:t>света</a:t>
            </a:r>
            <a:endParaRPr lang="en-US" b="1" dirty="0" smtClean="0">
              <a:cs typeface="Times New Roman" panose="02020603050405020304" pitchFamily="18" charset="0"/>
            </a:endParaRPr>
          </a:p>
          <a:p>
            <a:r>
              <a:rPr lang="ru-RU" b="1" dirty="0" smtClean="0">
                <a:cs typeface="Times New Roman" panose="02020603050405020304" pitchFamily="18" charset="0"/>
              </a:rPr>
              <a:t>Камера</a:t>
            </a:r>
            <a:endParaRPr lang="ru-RU" dirty="0" smtClean="0"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334" y="1684338"/>
            <a:ext cx="6054037" cy="4313237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54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67509" y="192071"/>
            <a:ext cx="12583422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Алгоритмы </a:t>
            </a:r>
            <a:r>
              <a:rPr lang="ru-RU" b="1" dirty="0">
                <a:latin typeface="+mn-lt"/>
              </a:rPr>
              <a:t>удаления невидимых поверхностей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767030" y="2595563"/>
            <a:ext cx="1060704" cy="4849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261656" y="2882075"/>
            <a:ext cx="1060704" cy="445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483" y="3979299"/>
            <a:ext cx="3438525" cy="22955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5905" y="6055360"/>
            <a:ext cx="2196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Алгоритм </a:t>
            </a:r>
            <a:r>
              <a:rPr lang="en-US" b="1" dirty="0"/>
              <a:t>Z-</a:t>
            </a:r>
            <a:r>
              <a:rPr lang="ru-RU" b="1" dirty="0"/>
              <a:t>буфера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54910"/>
              </p:ext>
            </p:extLst>
          </p:nvPr>
        </p:nvGraphicFramePr>
        <p:xfrm>
          <a:off x="286512" y="1668710"/>
          <a:ext cx="11746992" cy="2310589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920882475"/>
                    </a:ext>
                  </a:extLst>
                </a:gridCol>
                <a:gridCol w="3468624">
                  <a:extLst>
                    <a:ext uri="{9D8B030D-6E8A-4147-A177-3AD203B41FA5}">
                      <a16:colId xmlns:a16="http://schemas.microsoft.com/office/drawing/2014/main" val="4178856675"/>
                    </a:ext>
                  </a:extLst>
                </a:gridCol>
                <a:gridCol w="3480816">
                  <a:extLst>
                    <a:ext uri="{9D8B030D-6E8A-4147-A177-3AD203B41FA5}">
                      <a16:colId xmlns:a16="http://schemas.microsoft.com/office/drawing/2014/main" val="23602156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519913212"/>
                    </a:ext>
                  </a:extLst>
                </a:gridCol>
              </a:tblGrid>
              <a:tr h="654509"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Алгоритм обратной трассировки лучей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Алгоритм Робертса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Алгоритм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Z-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буфера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0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Пространство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Объектное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Объектное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Изображения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44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Ограничение точности</a:t>
                      </a:r>
                      <a:r>
                        <a:rPr lang="ru-RU" sz="18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определения невидимых граней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Вычисления с плавающей точкой в объектном пространстве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Вычисления с плавающей точкой в объектном пространстве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Разрешение изображения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419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Скорость</a:t>
                      </a:r>
                      <a:r>
                        <a:rPr lang="ru-RU" b="1" baseline="0" dirty="0" smtClean="0"/>
                        <a:t>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Низкая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Высокая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318396"/>
                  </a:ext>
                </a:extLst>
              </a:tr>
            </a:tbl>
          </a:graphicData>
        </a:graphic>
      </p:graphicFrame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77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329" y="201136"/>
            <a:ext cx="11353800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 </a:t>
            </a:r>
            <a:r>
              <a:rPr lang="ru-RU" b="1" dirty="0">
                <a:latin typeface="+mn-lt"/>
              </a:rPr>
              <a:t>Анализ методов закрашивания</a:t>
            </a:r>
            <a:endParaRPr lang="ru-RU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60207"/>
              </p:ext>
            </p:extLst>
          </p:nvPr>
        </p:nvGraphicFramePr>
        <p:xfrm>
          <a:off x="1470659" y="1772603"/>
          <a:ext cx="9883141" cy="419862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2250741">
                  <a:extLst>
                    <a:ext uri="{9D8B030D-6E8A-4147-A177-3AD203B41FA5}">
                      <a16:colId xmlns:a16="http://schemas.microsoft.com/office/drawing/2014/main" val="3920882475"/>
                    </a:ext>
                  </a:extLst>
                </a:gridCol>
                <a:gridCol w="2517112">
                  <a:extLst>
                    <a:ext uri="{9D8B030D-6E8A-4147-A177-3AD203B41FA5}">
                      <a16:colId xmlns:a16="http://schemas.microsoft.com/office/drawing/2014/main" val="4178856675"/>
                    </a:ext>
                  </a:extLst>
                </a:gridCol>
                <a:gridCol w="2557644">
                  <a:extLst>
                    <a:ext uri="{9D8B030D-6E8A-4147-A177-3AD203B41FA5}">
                      <a16:colId xmlns:a16="http://schemas.microsoft.com/office/drawing/2014/main" val="2360215603"/>
                    </a:ext>
                  </a:extLst>
                </a:gridCol>
                <a:gridCol w="2557644">
                  <a:extLst>
                    <a:ext uri="{9D8B030D-6E8A-4147-A177-3AD203B41FA5}">
                      <a16:colId xmlns:a16="http://schemas.microsoft.com/office/drawing/2014/main" val="519913212"/>
                    </a:ext>
                  </a:extLst>
                </a:gridCol>
              </a:tblGrid>
              <a:tr h="762426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Плоское закрашивание</a:t>
                      </a:r>
                      <a:endParaRPr lang="ru-RU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Закрашивание по методу </a:t>
                      </a:r>
                      <a:r>
                        <a:rPr lang="ru-RU" b="1" dirty="0" err="1" smtClean="0"/>
                        <a:t>Гуро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Закрашивание по методу </a:t>
                      </a:r>
                      <a:r>
                        <a:rPr lang="ru-RU" b="1" dirty="0" err="1" smtClean="0"/>
                        <a:t>Фонга</a:t>
                      </a:r>
                      <a:endParaRPr lang="ru-R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05078"/>
                  </a:ext>
                </a:extLst>
              </a:tr>
              <a:tr h="431985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Скорость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Низкая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444637"/>
                  </a:ext>
                </a:extLst>
              </a:tr>
              <a:tr h="745618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Реалистичность</a:t>
                      </a:r>
                      <a:r>
                        <a:rPr lang="ru-RU" b="1" baseline="0" dirty="0" smtClean="0"/>
                        <a:t> изображения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Низкая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Высокая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419987"/>
                  </a:ext>
                </a:extLst>
              </a:tr>
              <a:tr h="2258591">
                <a:tc>
                  <a:txBody>
                    <a:bodyPr/>
                    <a:lstStyle/>
                    <a:p>
                      <a:pPr algn="l"/>
                      <a:r>
                        <a:rPr lang="ru-RU" b="1" dirty="0" smtClean="0"/>
                        <a:t>Примеры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318396"/>
                  </a:ext>
                </a:extLst>
              </a:tr>
            </a:tbl>
          </a:graphicData>
        </a:graphic>
      </p:graphicFrame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7" t="3650" r="31423" b="13805"/>
          <a:stretch/>
        </p:blipFill>
        <p:spPr>
          <a:xfrm>
            <a:off x="6422767" y="3813201"/>
            <a:ext cx="2200373" cy="20515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" t="3650" r="63560" b="13805"/>
          <a:stretch/>
        </p:blipFill>
        <p:spPr>
          <a:xfrm>
            <a:off x="3895778" y="3813201"/>
            <a:ext cx="2200374" cy="205152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68" t="3650" r="1293" b="13805"/>
          <a:stretch/>
        </p:blipFill>
        <p:spPr>
          <a:xfrm>
            <a:off x="9008757" y="3819463"/>
            <a:ext cx="2193657" cy="204526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7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+mn-lt"/>
              </a:rPr>
              <a:t>Построение теней</a:t>
            </a:r>
            <a:endParaRPr lang="ru-RU" dirty="0">
              <a:latin typeface="+mn-lt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82102"/>
              </p:ext>
            </p:extLst>
          </p:nvPr>
        </p:nvGraphicFramePr>
        <p:xfrm>
          <a:off x="998219" y="1507807"/>
          <a:ext cx="10650106" cy="4695335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2491741">
                  <a:extLst>
                    <a:ext uri="{9D8B030D-6E8A-4147-A177-3AD203B41FA5}">
                      <a16:colId xmlns:a16="http://schemas.microsoft.com/office/drawing/2014/main" val="3920882475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4178856675"/>
                    </a:ext>
                  </a:extLst>
                </a:gridCol>
                <a:gridCol w="4089285">
                  <a:extLst>
                    <a:ext uri="{9D8B030D-6E8A-4147-A177-3AD203B41FA5}">
                      <a16:colId xmlns:a16="http://schemas.microsoft.com/office/drawing/2014/main" val="2360215603"/>
                    </a:ext>
                  </a:extLst>
                </a:gridCol>
              </a:tblGrid>
              <a:tr h="946748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Метод карт теней</a:t>
                      </a:r>
                      <a:endParaRPr lang="ru-RU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Метод теневых объёмов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805078"/>
                  </a:ext>
                </a:extLst>
              </a:tr>
              <a:tr h="53642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Скорость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444637"/>
                  </a:ext>
                </a:extLst>
              </a:tr>
              <a:tr h="40754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Реалистичность</a:t>
                      </a:r>
                      <a:r>
                        <a:rPr lang="ru-RU" b="1" baseline="0" dirty="0" smtClean="0"/>
                        <a:t> теней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19987"/>
                  </a:ext>
                </a:extLst>
              </a:tr>
              <a:tr h="2804622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Примеры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18396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60" y="3472484"/>
            <a:ext cx="3368040" cy="259925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6</a:t>
            </a:fld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900" y="3571792"/>
            <a:ext cx="401058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3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004" y="27698"/>
            <a:ext cx="10515600" cy="1325563"/>
          </a:xfrm>
        </p:spPr>
        <p:txBody>
          <a:bodyPr/>
          <a:lstStyle/>
          <a:p>
            <a:pPr algn="ctr"/>
            <a:r>
              <a:rPr lang="ru-RU" b="1" dirty="0" err="1"/>
              <a:t>Текстурирование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55" y="1353261"/>
            <a:ext cx="3627930" cy="241484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891" y="1842316"/>
            <a:ext cx="4160953" cy="24148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150" y="2414188"/>
            <a:ext cx="3627930" cy="241861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86" y="3049736"/>
            <a:ext cx="3707644" cy="24148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10372" y="5584299"/>
            <a:ext cx="473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Примеры текстур</a:t>
            </a:r>
            <a:endParaRPr lang="ru-RU" b="1" dirty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6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432"/>
            <a:ext cx="1236726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Организация движения автомобиля </a:t>
            </a:r>
            <a:r>
              <a:rPr lang="en-US" b="1" dirty="0" smtClean="0">
                <a:latin typeface="+mn-lt"/>
              </a:rPr>
              <a:t/>
            </a:r>
            <a:br>
              <a:rPr lang="en-US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и </a:t>
            </a:r>
            <a:r>
              <a:rPr lang="ru-RU" b="1" dirty="0">
                <a:latin typeface="+mn-lt"/>
              </a:rPr>
              <a:t>поиск пути</a:t>
            </a:r>
            <a:endParaRPr lang="ru-RU" dirty="0">
              <a:latin typeface="+mn-lt"/>
            </a:endParaRP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19625"/>
              </p:ext>
            </p:extLst>
          </p:nvPr>
        </p:nvGraphicFramePr>
        <p:xfrm>
          <a:off x="388620" y="1560830"/>
          <a:ext cx="11254740" cy="5163081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3920882475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4178856675"/>
                    </a:ext>
                  </a:extLst>
                </a:gridCol>
                <a:gridCol w="3223260">
                  <a:extLst>
                    <a:ext uri="{9D8B030D-6E8A-4147-A177-3AD203B41FA5}">
                      <a16:colId xmlns:a16="http://schemas.microsoft.com/office/drawing/2014/main" val="23602156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519913212"/>
                    </a:ext>
                  </a:extLst>
                </a:gridCol>
              </a:tblGrid>
              <a:tr h="762426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Алгоритм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Дейкстры</a:t>
                      </a:r>
                      <a:endParaRPr lang="ru-R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Волновой алгоритм</a:t>
                      </a:r>
                      <a:endParaRPr lang="ru-RU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Муравьиный алгоритм</a:t>
                      </a:r>
                      <a:endParaRPr lang="ru-R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05078"/>
                  </a:ext>
                </a:extLst>
              </a:tr>
              <a:tr h="43198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Скорость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/>
                        <a:t>Средняя</a:t>
                      </a:r>
                      <a:endParaRPr lang="ru-RU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/>
                        <a:t>Высокая</a:t>
                      </a:r>
                      <a:endParaRPr lang="ru-RU" b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Низкая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444637"/>
                  </a:ext>
                </a:extLst>
              </a:tr>
              <a:tr h="966494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Тип результата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Гарантированно кратчайший путь в графе с неотрицательными весами.</a:t>
                      </a:r>
                      <a:endParaRPr lang="ru-RU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Гарантированно кратчайший путь</a:t>
                      </a:r>
                      <a:endParaRPr lang="ru-RU" b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Приближенное решение (не гарантированно минимальное расстояние)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419987"/>
                  </a:ext>
                </a:extLst>
              </a:tr>
              <a:tr h="3002176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Примеры работы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318396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586" y="4021512"/>
            <a:ext cx="3036014" cy="2022975"/>
          </a:xfrm>
          <a:prstGeom prst="rect">
            <a:avLst/>
          </a:prstGeom>
        </p:spPr>
      </p:pic>
      <p:pic>
        <p:nvPicPr>
          <p:cNvPr id="4100" name="Picture 4" descr="http://www.machinelearning.ru/wiki/images/c/c8/PictA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994" y="3759814"/>
            <a:ext cx="1889760" cy="291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Алгоритм Дейкстры нахождения кратчайшего пут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618" y="3860521"/>
            <a:ext cx="3279968" cy="234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715" y="0"/>
            <a:ext cx="1172972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Общий алгоритм построения изображения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928" y="1336781"/>
            <a:ext cx="4893294" cy="552121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58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715" y="0"/>
            <a:ext cx="1172972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Алгоритм построчного сканирования с Z-буфером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1193049"/>
            <a:ext cx="5502741" cy="566495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68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714" y="-143647"/>
            <a:ext cx="1172972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Организация поиска пути</a:t>
            </a:r>
            <a:endParaRPr lang="ru-RU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425" y="871681"/>
            <a:ext cx="5580299" cy="598631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47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51978"/>
            <a:ext cx="1172972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Выбор средств реализации</a:t>
            </a:r>
            <a:endParaRPr lang="ru-RU" dirty="0">
              <a:latin typeface="+mn-lt"/>
            </a:endParaRPr>
          </a:p>
        </p:txBody>
      </p:sp>
      <p:pic>
        <p:nvPicPr>
          <p:cNvPr id="5124" name="Picture 4" descr="File:Python-logo-notext.svg - Wikimedia Comm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539" y="877191"/>
            <a:ext cx="1259167" cy="125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Файл:Qt logo neon 2022.svg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817" y="4131397"/>
            <a:ext cx="1430904" cy="102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Numpy Logo Icons for Data Science and Programm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715" y="2163854"/>
            <a:ext cx="1944895" cy="194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PyInstaller · GitHu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539" y="5488574"/>
            <a:ext cx="1254388" cy="12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299095" y="1021736"/>
            <a:ext cx="6064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Python</a:t>
            </a:r>
            <a:r>
              <a:rPr lang="ru-RU" b="1" dirty="0"/>
              <a:t> 3.13</a:t>
            </a:r>
            <a:r>
              <a:rPr lang="ru-RU" dirty="0"/>
              <a:t> — Язык программирования с динамической типизацией, упрощающей реализацию алгоритмической части программного комплекса.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99095" y="2607013"/>
            <a:ext cx="6064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err="1"/>
              <a:t>NumPy</a:t>
            </a:r>
            <a:r>
              <a:rPr lang="ru-RU" altLang="ru-RU" dirty="0"/>
              <a:t> — библиотека для векторизации матричных операций, обеспечивающая ускорение математических расчетов при рендеринге.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299095" y="4128772"/>
            <a:ext cx="6064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PyQt5</a:t>
            </a:r>
            <a:r>
              <a:rPr lang="ru-RU" altLang="ru-RU" dirty="0"/>
              <a:t> — </a:t>
            </a:r>
            <a:r>
              <a:rPr lang="ru-RU" altLang="ru-RU" dirty="0" err="1"/>
              <a:t>фреймворк</a:t>
            </a:r>
            <a:r>
              <a:rPr lang="ru-RU" altLang="ru-RU" dirty="0"/>
              <a:t> для создания графического интерфейса пользователя и вывода </a:t>
            </a:r>
            <a:r>
              <a:rPr lang="ru-RU" altLang="ru-RU" dirty="0" err="1"/>
              <a:t>отрисованного</a:t>
            </a:r>
            <a:r>
              <a:rPr lang="ru-RU" altLang="ru-RU" dirty="0"/>
              <a:t> буфера кадра на экран.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229839" y="5518489"/>
            <a:ext cx="6064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err="1"/>
              <a:t>PyInstaller</a:t>
            </a:r>
            <a:r>
              <a:rPr lang="ru-RU" altLang="ru-RU" dirty="0"/>
              <a:t> — инструмент для сборки исходного кода и библиотек в единый исполняемый файл для распространения программы.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39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459" y="-303827"/>
            <a:ext cx="11729720" cy="1325563"/>
          </a:xfrm>
        </p:spPr>
        <p:txBody>
          <a:bodyPr/>
          <a:lstStyle/>
          <a:p>
            <a:pPr algn="ctr"/>
            <a:r>
              <a:rPr lang="ru-RU" b="1" dirty="0">
                <a:latin typeface="+mn-lt"/>
              </a:rPr>
              <a:t>С</a:t>
            </a:r>
            <a:r>
              <a:rPr lang="ru-RU" b="1" dirty="0" smtClean="0">
                <a:latin typeface="+mn-lt"/>
              </a:rPr>
              <a:t>труктура </a:t>
            </a:r>
            <a:r>
              <a:rPr lang="ru-RU" b="1" dirty="0">
                <a:latin typeface="+mn-lt"/>
              </a:rPr>
              <a:t>разработанной программы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22" y="894080"/>
            <a:ext cx="6432593" cy="550481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90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459" y="-303827"/>
            <a:ext cx="11729720" cy="1325563"/>
          </a:xfrm>
        </p:spPr>
        <p:txBody>
          <a:bodyPr/>
          <a:lstStyle/>
          <a:p>
            <a:pPr algn="ctr"/>
            <a:r>
              <a:rPr lang="ru-RU" b="1" dirty="0" smtClean="0">
                <a:latin typeface="+mn-lt"/>
              </a:rPr>
              <a:t>Интерфейс программы</a:t>
            </a:r>
            <a:endParaRPr lang="ru-RU" b="1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858" y="1848446"/>
            <a:ext cx="3734321" cy="368668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99" y="1021736"/>
            <a:ext cx="7459200" cy="5340109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17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34653"/>
            <a:ext cx="12831342" cy="122838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+mn-lt"/>
              </a:rPr>
              <a:t>И</a:t>
            </a:r>
            <a:r>
              <a:rPr lang="ru-RU" b="1" dirty="0" smtClean="0">
                <a:latin typeface="+mn-lt"/>
              </a:rPr>
              <a:t>сследования зависимости </a:t>
            </a:r>
            <a:r>
              <a:rPr lang="ru-RU" b="1" dirty="0">
                <a:latin typeface="+mn-lt"/>
              </a:rPr>
              <a:t>времени генерации</a:t>
            </a:r>
            <a:br>
              <a:rPr lang="ru-RU" b="1" dirty="0">
                <a:latin typeface="+mn-lt"/>
              </a:rPr>
            </a:br>
            <a:r>
              <a:rPr lang="ru-RU" b="1" dirty="0">
                <a:latin typeface="+mn-lt"/>
              </a:rPr>
              <a:t>одного кадра изображения от коэффициента масштабирования сцены.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7" y="1889518"/>
            <a:ext cx="3246884" cy="466467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856" y="1997972"/>
            <a:ext cx="6867604" cy="4447766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32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831342" cy="1228387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>
                <a:latin typeface="+mn-lt"/>
              </a:rPr>
              <a:t>Заключение</a:t>
            </a:r>
            <a:endParaRPr lang="ru-RU" b="1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307" y="1493222"/>
            <a:ext cx="116286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 ходе выполнения курсовой работы была успешно достигнута </a:t>
            </a:r>
            <a:r>
              <a:rPr lang="ru-RU" sz="2400" b="1" dirty="0" smtClean="0"/>
              <a:t>цель: </a:t>
            </a:r>
            <a:r>
              <a:rPr lang="ru-RU" sz="2400" dirty="0" smtClean="0">
                <a:cs typeface="Times New Roman" panose="02020603050405020304" pitchFamily="18" charset="0"/>
              </a:rPr>
              <a:t>разработать программное обеспечение </a:t>
            </a:r>
            <a:r>
              <a:rPr lang="ru-RU" sz="2400" dirty="0">
                <a:cs typeface="Times New Roman" panose="02020603050405020304" pitchFamily="18" charset="0"/>
              </a:rPr>
              <a:t>для трёхмерного моделирования движения автомобиля в городской </a:t>
            </a:r>
            <a:r>
              <a:rPr lang="ru-RU" sz="2400" dirty="0" smtClean="0">
                <a:cs typeface="Times New Roman" panose="02020603050405020304" pitchFamily="18" charset="0"/>
              </a:rPr>
              <a:t>среде</a:t>
            </a:r>
            <a:r>
              <a:rPr lang="en-US" sz="2400" dirty="0" smtClean="0">
                <a:cs typeface="Times New Roman" panose="02020603050405020304" pitchFamily="18" charset="0"/>
              </a:rPr>
              <a:t>.</a:t>
            </a:r>
            <a:r>
              <a:rPr lang="ru-RU" sz="2400" dirty="0" smtClean="0">
                <a:cs typeface="Times New Roman" panose="02020603050405020304" pitchFamily="18" charset="0"/>
              </a:rPr>
              <a:t> </a:t>
            </a:r>
          </a:p>
          <a:p>
            <a:endParaRPr lang="ru-RU" sz="2400" dirty="0" smtClean="0">
              <a:cs typeface="Times New Roman" panose="02020603050405020304" pitchFamily="18" charset="0"/>
            </a:endParaRPr>
          </a:p>
          <a:p>
            <a:r>
              <a:rPr lang="ru-RU" sz="2400" b="1" dirty="0" smtClean="0"/>
              <a:t>Все </a:t>
            </a:r>
            <a:r>
              <a:rPr lang="ru-RU" sz="2400" b="1" dirty="0"/>
              <a:t>задачи были выполнены</a:t>
            </a:r>
            <a:r>
              <a:rPr lang="ru-RU" sz="2400" b="1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</a:t>
            </a:r>
            <a:r>
              <a:rPr lang="ru-RU" sz="2400" dirty="0" smtClean="0"/>
              <a:t>проектирована </a:t>
            </a:r>
            <a:r>
              <a:rPr lang="ru-RU" sz="2400" dirty="0"/>
              <a:t>и описана структура трёхмерной </a:t>
            </a:r>
            <a:r>
              <a:rPr lang="ru-RU" sz="2400" dirty="0" smtClean="0"/>
              <a:t>сцены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</a:t>
            </a:r>
            <a:r>
              <a:rPr lang="ru-RU" sz="2400" dirty="0" smtClean="0"/>
              <a:t>ыбраны </a:t>
            </a:r>
            <a:r>
              <a:rPr lang="ru-RU" sz="2400" dirty="0"/>
              <a:t>и реализованы </a:t>
            </a:r>
            <a:r>
              <a:rPr lang="ru-RU" sz="2400" dirty="0" smtClean="0"/>
              <a:t>алгоритмы удаления </a:t>
            </a:r>
            <a:r>
              <a:rPr lang="ru-RU" sz="2400" dirty="0"/>
              <a:t>невидимых поверхностей, закрашивания и построения </a:t>
            </a:r>
            <a:r>
              <a:rPr lang="ru-RU" sz="2400" dirty="0" smtClean="0"/>
              <a:t>теней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</a:t>
            </a:r>
            <a:r>
              <a:rPr lang="ru-RU" sz="2400" dirty="0" smtClean="0"/>
              <a:t>беспечена </a:t>
            </a:r>
            <a:r>
              <a:rPr lang="ru-RU" sz="2400" dirty="0"/>
              <a:t>поддержка </a:t>
            </a:r>
            <a:r>
              <a:rPr lang="ru-RU" sz="2400" dirty="0" err="1"/>
              <a:t>текстурирования</a:t>
            </a:r>
            <a:r>
              <a:rPr lang="ru-RU" sz="2400" dirty="0"/>
              <a:t> и </a:t>
            </a:r>
            <a:r>
              <a:rPr lang="ru-RU" sz="2400" dirty="0" smtClean="0"/>
              <a:t>освещения</a:t>
            </a:r>
            <a:r>
              <a:rPr lang="en-US" sz="2400" dirty="0"/>
              <a:t>;</a:t>
            </a:r>
            <a:endParaRPr lang="ru-R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</a:t>
            </a:r>
            <a:r>
              <a:rPr lang="ru-RU" sz="2400" dirty="0" smtClean="0"/>
              <a:t>азработана система </a:t>
            </a:r>
            <a:r>
              <a:rPr lang="ru-RU" sz="2400" dirty="0"/>
              <a:t>управления виртуальной </a:t>
            </a:r>
            <a:r>
              <a:rPr lang="ru-RU" sz="2400" dirty="0" smtClean="0"/>
              <a:t>камерой</a:t>
            </a:r>
            <a:r>
              <a:rPr lang="en-US" sz="2400" dirty="0"/>
              <a:t>;</a:t>
            </a:r>
            <a:endParaRPr lang="ru-R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</a:t>
            </a:r>
            <a:r>
              <a:rPr lang="ru-RU" sz="2400" dirty="0" smtClean="0"/>
              <a:t>еализован поиск </a:t>
            </a:r>
            <a:r>
              <a:rPr lang="ru-RU" sz="2400" dirty="0"/>
              <a:t>пути и анимация </a:t>
            </a:r>
            <a:r>
              <a:rPr lang="ru-RU" sz="2400" dirty="0" smtClean="0"/>
              <a:t>движения</a:t>
            </a:r>
            <a:r>
              <a:rPr lang="en-US" sz="2400" dirty="0" smtClean="0"/>
              <a:t>;</a:t>
            </a:r>
            <a:r>
              <a:rPr lang="ru-RU" sz="2400" dirty="0"/>
              <a:t> </a:t>
            </a:r>
            <a:endParaRPr lang="ru-R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</a:t>
            </a:r>
            <a:r>
              <a:rPr lang="ru-RU" sz="2400" dirty="0" smtClean="0"/>
              <a:t>се </a:t>
            </a:r>
            <a:r>
              <a:rPr lang="ru-RU" sz="2400" dirty="0"/>
              <a:t>компоненты </a:t>
            </a:r>
            <a:r>
              <a:rPr lang="ru-RU" sz="2400" dirty="0" smtClean="0"/>
              <a:t>объединены </a:t>
            </a:r>
            <a:r>
              <a:rPr lang="ru-RU" sz="2400" dirty="0"/>
              <a:t>в единую программную </a:t>
            </a:r>
            <a:r>
              <a:rPr lang="ru-RU" sz="2400" dirty="0" smtClean="0"/>
              <a:t>систему для визуализации движения.</a:t>
            </a:r>
            <a:r>
              <a:rPr lang="ru-RU" sz="2400" dirty="0"/>
              <a:t>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F3F4-9B24-456F-AAB7-541AB0D0A35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0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399</Words>
  <Application>Microsoft Office PowerPoint</Application>
  <PresentationFormat>Широкоэкранный</PresentationFormat>
  <Paragraphs>115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Визуализация движения автомобиля в трехмерной городской среде с использованием алгоритма поиска пути</vt:lpstr>
      <vt:lpstr>Цели и задачи</vt:lpstr>
      <vt:lpstr>Описание объектов сцены</vt:lpstr>
      <vt:lpstr> Алгоритмы удаления невидимых поверхностей</vt:lpstr>
      <vt:lpstr> Анализ методов закрашивания</vt:lpstr>
      <vt:lpstr>Построение теней</vt:lpstr>
      <vt:lpstr>Текстурирование</vt:lpstr>
      <vt:lpstr>Организация движения автомобиля  и поиск пути</vt:lpstr>
      <vt:lpstr>Общий алгоритм построения изображения</vt:lpstr>
      <vt:lpstr>Алгоритм построчного сканирования с Z-буфером</vt:lpstr>
      <vt:lpstr>Организация поиска пути</vt:lpstr>
      <vt:lpstr>Выбор средств реализации</vt:lpstr>
      <vt:lpstr>Структура разработанной программы</vt:lpstr>
      <vt:lpstr>Интерфейс программы</vt:lpstr>
      <vt:lpstr>Исследования зависимости времени генерации одного кадра изображения от коэффициента масштабирования сцены.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Визуализация движения автомобиля в трехмерной городской среде с использованием алгоритма поиска пути</dc:title>
  <dc:creator>Георгий Доколин</dc:creator>
  <cp:lastModifiedBy>Георгий Доколин</cp:lastModifiedBy>
  <cp:revision>40</cp:revision>
  <dcterms:created xsi:type="dcterms:W3CDTF">2025-12-09T22:05:26Z</dcterms:created>
  <dcterms:modified xsi:type="dcterms:W3CDTF">2025-12-13T10:43:39Z</dcterms:modified>
</cp:coreProperties>
</file>